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68" r:id="rId4"/>
    <p:sldId id="258" r:id="rId5"/>
    <p:sldId id="270" r:id="rId6"/>
    <p:sldId id="271" r:id="rId7"/>
    <p:sldId id="259" r:id="rId8"/>
    <p:sldId id="260" r:id="rId9"/>
    <p:sldId id="269" r:id="rId10"/>
    <p:sldId id="272" r:id="rId11"/>
    <p:sldId id="274" r:id="rId12"/>
    <p:sldId id="273" r:id="rId13"/>
    <p:sldId id="267"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663160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6188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d1057461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d1057461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485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fd1057461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fd1057461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1318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fd1057461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fd1057461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4111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fd1057461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fd1057461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6061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fd1057461b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fd1057461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3244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1.xml"/><Relationship Id="rId5" Type="http://schemas.openxmlformats.org/officeDocument/2006/relationships/image" Target="../media/image6.jp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1.xml"/><Relationship Id="rId5" Type="http://schemas.openxmlformats.org/officeDocument/2006/relationships/image" Target="../media/image8.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2256400"/>
            <a:ext cx="8520600" cy="101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900" b="1" dirty="0">
                <a:solidFill>
                  <a:schemeClr val="dk1"/>
                </a:solidFill>
              </a:rPr>
              <a:t>ONLINE JOB PORTAL</a:t>
            </a:r>
            <a:endParaRPr sz="3900" b="1" dirty="0">
              <a:solidFill>
                <a:schemeClr val="dk1"/>
              </a:solidFill>
            </a:endParaRPr>
          </a:p>
        </p:txBody>
      </p:sp>
      <p:pic>
        <p:nvPicPr>
          <p:cNvPr id="55" name="Google Shape;55;p13"/>
          <p:cNvPicPr preferRelativeResize="0"/>
          <p:nvPr/>
        </p:nvPicPr>
        <p:blipFill>
          <a:blip r:embed="rId3">
            <a:alphaModFix/>
          </a:blip>
          <a:stretch>
            <a:fillRect/>
          </a:stretch>
        </p:blipFill>
        <p:spPr>
          <a:xfrm>
            <a:off x="0" y="0"/>
            <a:ext cx="4634924" cy="1449600"/>
          </a:xfrm>
          <a:prstGeom prst="rect">
            <a:avLst/>
          </a:prstGeom>
          <a:noFill/>
          <a:ln>
            <a:noFill/>
          </a:ln>
        </p:spPr>
      </p:pic>
      <p:sp>
        <p:nvSpPr>
          <p:cNvPr id="56" name="Google Shape;56;p13"/>
          <p:cNvSpPr txBox="1"/>
          <p:nvPr/>
        </p:nvSpPr>
        <p:spPr>
          <a:xfrm>
            <a:off x="0" y="3899338"/>
            <a:ext cx="4327500" cy="777106"/>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 sz="1800" b="1" dirty="0">
                <a:solidFill>
                  <a:schemeClr val="tx1">
                    <a:lumMod val="95000"/>
                    <a:lumOff val="5000"/>
                  </a:schemeClr>
                </a:solidFill>
              </a:rPr>
              <a:t>PRESENTED BY</a:t>
            </a:r>
            <a:endParaRPr sz="1800" dirty="0">
              <a:solidFill>
                <a:schemeClr val="tx1">
                  <a:lumMod val="95000"/>
                  <a:lumOff val="5000"/>
                </a:schemeClr>
              </a:solidFill>
              <a:latin typeface="Calibri"/>
              <a:ea typeface="Calibri"/>
              <a:cs typeface="Calibri"/>
              <a:sym typeface="Calibri"/>
            </a:endParaRPr>
          </a:p>
          <a:p>
            <a:pPr marL="0" lvl="0" indent="0" algn="ctr" rtl="0">
              <a:lnSpc>
                <a:spcPct val="100000"/>
              </a:lnSpc>
              <a:spcBef>
                <a:spcPts val="300"/>
              </a:spcBef>
              <a:spcAft>
                <a:spcPts val="0"/>
              </a:spcAft>
              <a:buNone/>
            </a:pPr>
            <a:r>
              <a:rPr lang="en" sz="1800" b="1" dirty="0">
                <a:solidFill>
                  <a:schemeClr val="tx1">
                    <a:lumMod val="95000"/>
                    <a:lumOff val="5000"/>
                  </a:schemeClr>
                </a:solidFill>
              </a:rPr>
              <a:t>2303811710421151 – SIVA SURYA S</a:t>
            </a:r>
            <a:endParaRPr sz="1800" b="1" dirty="0">
              <a:solidFill>
                <a:schemeClr val="tx1">
                  <a:lumMod val="95000"/>
                  <a:lumOff val="5000"/>
                </a:schemeClr>
              </a:solidFill>
            </a:endParaRPr>
          </a:p>
        </p:txBody>
      </p:sp>
      <p:sp>
        <p:nvSpPr>
          <p:cNvPr id="57" name="Google Shape;57;p13"/>
          <p:cNvSpPr txBox="1"/>
          <p:nvPr/>
        </p:nvSpPr>
        <p:spPr>
          <a:xfrm>
            <a:off x="4816500" y="3584028"/>
            <a:ext cx="4327500" cy="1292631"/>
          </a:xfrm>
          <a:prstGeom prst="rect">
            <a:avLst/>
          </a:prstGeom>
          <a:noFill/>
          <a:ln>
            <a:noFill/>
          </a:ln>
        </p:spPr>
        <p:txBody>
          <a:bodyPr spcFirstLastPara="1" wrap="square" lIns="91425" tIns="91425" rIns="91425" bIns="91425" anchor="t" anchorCtr="0">
            <a:spAutoFit/>
          </a:bodyPr>
          <a:lstStyle/>
          <a:p>
            <a:pPr algn="just">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chemeClr val="tx1"/>
                </a:solidFill>
                <a:latin typeface="Arial Narrow" pitchFamily="34" charset="0"/>
                <a:cs typeface="Arial" pitchFamily="34" charset="0"/>
              </a:rPr>
              <a:t>			</a:t>
            </a:r>
          </a:p>
          <a:p>
            <a:pPr algn="just">
              <a:spcBef>
                <a:spcPct val="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800" b="1" dirty="0">
                <a:solidFill>
                  <a:schemeClr val="tx1"/>
                </a:solidFill>
                <a:latin typeface="Arial Narrow" pitchFamily="34" charset="0"/>
                <a:cs typeface="Arial" pitchFamily="34" charset="0"/>
              </a:rPr>
              <a:t>			SUPERVISOR                                                                                		   </a:t>
            </a:r>
            <a:r>
              <a:rPr lang="en-US" altLang="en-US" sz="1800" b="1" dirty="0" err="1">
                <a:solidFill>
                  <a:schemeClr val="tx1"/>
                </a:solidFill>
                <a:latin typeface="Arial Narrow" pitchFamily="34" charset="0"/>
                <a:cs typeface="Arial" pitchFamily="34" charset="0"/>
              </a:rPr>
              <a:t>Mr.A.Malarmannan,M.E</a:t>
            </a:r>
            <a:r>
              <a:rPr lang="en-US" altLang="en-US" sz="1800" b="1" dirty="0">
                <a:solidFill>
                  <a:schemeClr val="tx1"/>
                </a:solidFill>
                <a:latin typeface="Arial Narrow" pitchFamily="34" charset="0"/>
                <a:cs typeface="Arial" pitchFamily="34" charset="0"/>
              </a:rPr>
              <a:t>.,                                                                                                      				AP/CSE.</a:t>
            </a:r>
          </a:p>
        </p:txBody>
      </p:sp>
      <p:pic>
        <p:nvPicPr>
          <p:cNvPr id="58" name="Google Shape;58;p13"/>
          <p:cNvPicPr preferRelativeResize="0"/>
          <p:nvPr/>
        </p:nvPicPr>
        <p:blipFill rotWithShape="1">
          <a:blip r:embed="rId4">
            <a:alphaModFix/>
          </a:blip>
          <a:srcRect/>
          <a:stretch/>
        </p:blipFill>
        <p:spPr>
          <a:xfrm>
            <a:off x="8344250" y="3"/>
            <a:ext cx="799740" cy="79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p:nvPr/>
        </p:nvSpPr>
        <p:spPr>
          <a:xfrm>
            <a:off x="249400" y="1324850"/>
            <a:ext cx="7939500" cy="2553300"/>
          </a:xfrm>
          <a:prstGeom prst="rect">
            <a:avLst/>
          </a:prstGeom>
          <a:noFill/>
          <a:ln>
            <a:noFill/>
          </a:ln>
        </p:spPr>
        <p:txBody>
          <a:bodyPr spcFirstLastPara="1" wrap="square" lIns="91425" tIns="45700" rIns="91425" bIns="45700" anchor="t" anchorCtr="0">
            <a:noAutofit/>
          </a:bodyPr>
          <a:lstStyle/>
          <a:p>
            <a:pPr marL="457200" lvl="0" indent="-381000" algn="l" rtl="0">
              <a:lnSpc>
                <a:spcPct val="115000"/>
              </a:lnSpc>
              <a:spcBef>
                <a:spcPts val="0"/>
              </a:spcBef>
              <a:spcAft>
                <a:spcPts val="0"/>
              </a:spcAft>
              <a:buClr>
                <a:schemeClr val="dk1"/>
              </a:buClr>
              <a:buSzPts val="2400"/>
            </a:pPr>
            <a:endParaRPr lang="en-US" sz="2400" b="1" dirty="0">
              <a:solidFill>
                <a:schemeClr val="dk1"/>
              </a:solidFill>
            </a:endParaRPr>
          </a:p>
          <a:p>
            <a:pPr marL="457200" lvl="0" indent="-381000" algn="l" rtl="0">
              <a:lnSpc>
                <a:spcPct val="115000"/>
              </a:lnSpc>
              <a:spcBef>
                <a:spcPts val="0"/>
              </a:spcBef>
              <a:spcAft>
                <a:spcPts val="0"/>
              </a:spcAft>
              <a:buClr>
                <a:schemeClr val="dk1"/>
              </a:buClr>
              <a:buSzPts val="2400"/>
            </a:pPr>
            <a:endParaRPr lang="en" sz="2400" b="1" dirty="0">
              <a:solidFill>
                <a:schemeClr val="dk1"/>
              </a:solidFill>
            </a:endParaRPr>
          </a:p>
          <a:p>
            <a:pPr marL="457200" lvl="0" indent="-381000" algn="l" rtl="0">
              <a:lnSpc>
                <a:spcPct val="115000"/>
              </a:lnSpc>
              <a:spcBef>
                <a:spcPts val="0"/>
              </a:spcBef>
              <a:spcAft>
                <a:spcPts val="0"/>
              </a:spcAft>
              <a:buClr>
                <a:schemeClr val="dk1"/>
              </a:buClr>
              <a:buSzPts val="2400"/>
              <a:buChar char="➢"/>
            </a:pPr>
            <a:endParaRPr sz="2400" b="1">
              <a:solidFill>
                <a:schemeClr val="dk1"/>
              </a:solidFill>
            </a:endParaRPr>
          </a:p>
          <a:p>
            <a:pPr marL="457200" lvl="0" indent="-381000" algn="l" rtl="0">
              <a:lnSpc>
                <a:spcPct val="115000"/>
              </a:lnSpc>
              <a:spcBef>
                <a:spcPts val="0"/>
              </a:spcBef>
              <a:spcAft>
                <a:spcPts val="0"/>
              </a:spcAft>
              <a:buClr>
                <a:schemeClr val="dk1"/>
              </a:buClr>
              <a:buSzPts val="2400"/>
              <a:buChar char="➢"/>
            </a:pPr>
            <a:endParaRPr sz="2400" b="1">
              <a:solidFill>
                <a:schemeClr val="dk1"/>
              </a:solidFill>
            </a:endParaRPr>
          </a:p>
        </p:txBody>
      </p:sp>
      <p:pic>
        <p:nvPicPr>
          <p:cNvPr id="64" name="Google Shape;64;p14"/>
          <p:cNvPicPr preferRelativeResize="0"/>
          <p:nvPr/>
        </p:nvPicPr>
        <p:blipFill rotWithShape="1">
          <a:blip r:embed="rId3">
            <a:alphaModFix/>
          </a:blip>
          <a:srcRect/>
          <a:stretch/>
        </p:blipFill>
        <p:spPr>
          <a:xfrm>
            <a:off x="0" y="3"/>
            <a:ext cx="762558" cy="762395"/>
          </a:xfrm>
          <a:prstGeom prst="rect">
            <a:avLst/>
          </a:prstGeom>
          <a:noFill/>
          <a:ln>
            <a:noFill/>
          </a:ln>
        </p:spPr>
      </p:pic>
      <p:pic>
        <p:nvPicPr>
          <p:cNvPr id="65" name="Google Shape;65;p14"/>
          <p:cNvPicPr preferRelativeResize="0"/>
          <p:nvPr/>
        </p:nvPicPr>
        <p:blipFill rotWithShape="1">
          <a:blip r:embed="rId4">
            <a:alphaModFix/>
          </a:blip>
          <a:srcRect/>
          <a:stretch/>
        </p:blipFill>
        <p:spPr>
          <a:xfrm>
            <a:off x="8319030" y="6"/>
            <a:ext cx="824970" cy="795591"/>
          </a:xfrm>
          <a:prstGeom prst="rect">
            <a:avLst/>
          </a:prstGeom>
          <a:noFill/>
          <a:ln>
            <a:noFill/>
          </a:ln>
        </p:spPr>
      </p:pic>
      <p:sp>
        <p:nvSpPr>
          <p:cNvPr id="66" name="Google Shape;66;p14"/>
          <p:cNvSpPr txBox="1"/>
          <p:nvPr/>
        </p:nvSpPr>
        <p:spPr>
          <a:xfrm>
            <a:off x="38100" y="120750"/>
            <a:ext cx="906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dirty="0">
                <a:solidFill>
                  <a:schemeClr val="tx1">
                    <a:lumMod val="85000"/>
                    <a:lumOff val="15000"/>
                  </a:schemeClr>
                </a:solidFill>
              </a:rPr>
              <a:t>PRESENTATION OVERVIEW</a:t>
            </a:r>
            <a:endParaRPr sz="2400" b="1">
              <a:solidFill>
                <a:schemeClr val="tx1">
                  <a:lumMod val="85000"/>
                  <a:lumOff val="15000"/>
                </a:schemeClr>
              </a:solidFill>
              <a:latin typeface="Calibri"/>
              <a:ea typeface="Calibri"/>
              <a:cs typeface="Calibri"/>
              <a:sym typeface="Calibri"/>
            </a:endParaRPr>
          </a:p>
        </p:txBody>
      </p:sp>
      <p:sp>
        <p:nvSpPr>
          <p:cNvPr id="6" name="Text Box 2">
            <a:extLst>
              <a:ext uri="{FF2B5EF4-FFF2-40B4-BE49-F238E27FC236}">
                <a16:creationId xmlns:a16="http://schemas.microsoft.com/office/drawing/2014/main" id="{D66838E7-DF8B-441F-A7FD-CF7E2EA15593}"/>
              </a:ext>
            </a:extLst>
          </p:cNvPr>
          <p:cNvSpPr txBox="1">
            <a:spLocks noChangeArrowheads="1"/>
          </p:cNvSpPr>
          <p:nvPr/>
        </p:nvSpPr>
        <p:spPr bwMode="auto">
          <a:xfrm>
            <a:off x="830317" y="870857"/>
            <a:ext cx="7758137" cy="4272643"/>
          </a:xfrm>
          <a:prstGeom prst="rect">
            <a:avLst/>
          </a:prstGeom>
          <a:noFill/>
          <a:ln>
            <a:noFill/>
          </a:ln>
        </p:spPr>
        <p:txBody>
          <a:bodyPr/>
          <a:lstStyle>
            <a:lvl1pPr marL="342900" indent="-341313"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1pPr>
            <a:lvl2pPr indent="-284163"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2pPr>
            <a:lvl3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3pPr>
            <a:lvl4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4pPr>
            <a:lvl5pPr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a:solidFill>
                  <a:schemeClr val="tx1"/>
                </a:solidFill>
                <a:latin typeface="Arial" panose="020B0604020202020204" pitchFamily="34" charset="0"/>
                <a:ea typeface="WenQuanYi Micro Hei"/>
                <a:cs typeface="WenQuanYi Micro Hei"/>
              </a:defRPr>
            </a:lvl9pPr>
          </a:lstStyle>
          <a:p>
            <a:pPr marL="115887" lvl="1" indent="-457200" eaLnBrk="1" hangingPunct="1">
              <a:lnSpc>
                <a:spcPct val="150000"/>
              </a:lnSpc>
              <a:spcBef>
                <a:spcPts val="325"/>
              </a:spcBef>
              <a:buSzPct val="100000"/>
              <a:buFont typeface="+mj-lt"/>
              <a:buAutoNum type="arabicPeriod"/>
              <a:defRPr/>
            </a:pPr>
            <a:r>
              <a:rPr lang="en-US" altLang="en-US" dirty="0">
                <a:solidFill>
                  <a:srgbClr val="000000"/>
                </a:solidFill>
                <a:latin typeface="Times New Roman" panose="02020603050405020304" pitchFamily="18" charset="0"/>
                <a:cs typeface="Times New Roman" panose="02020603050405020304" pitchFamily="18" charset="0"/>
              </a:rPr>
              <a:t>Objective</a:t>
            </a:r>
          </a:p>
          <a:p>
            <a:pPr marL="458787" indent="-457200" eaLnBrk="1" hangingPunct="1">
              <a:lnSpc>
                <a:spcPct val="150000"/>
              </a:lnSpc>
              <a:spcBef>
                <a:spcPts val="325"/>
              </a:spcBef>
              <a:buClr>
                <a:srgbClr val="000000"/>
              </a:buClr>
              <a:buSzPct val="100000"/>
              <a:buFont typeface="+mj-lt"/>
              <a:buAutoNum type="arabicPeriod"/>
              <a:defRPr/>
            </a:pPr>
            <a:r>
              <a:rPr lang="en-US" altLang="en-US" dirty="0">
                <a:solidFill>
                  <a:srgbClr val="000000"/>
                </a:solidFill>
                <a:latin typeface="Times New Roman" panose="02020603050405020304" pitchFamily="18" charset="0"/>
                <a:cs typeface="Times New Roman" panose="02020603050405020304" pitchFamily="18" charset="0"/>
              </a:rPr>
              <a:t>Project Introduction</a:t>
            </a:r>
          </a:p>
          <a:p>
            <a:pPr marL="458787" indent="-457200" eaLnBrk="1" hangingPunct="1">
              <a:lnSpc>
                <a:spcPct val="150000"/>
              </a:lnSpc>
              <a:spcBef>
                <a:spcPts val="325"/>
              </a:spcBef>
              <a:buClr>
                <a:srgbClr val="000000"/>
              </a:buClr>
              <a:buSzPct val="100000"/>
              <a:buFont typeface="+mj-lt"/>
              <a:buAutoNum type="arabicPeriod"/>
              <a:defRPr/>
            </a:pPr>
            <a:r>
              <a:rPr lang="en-US" altLang="en-US" dirty="0">
                <a:solidFill>
                  <a:srgbClr val="000000"/>
                </a:solidFill>
                <a:latin typeface="Times New Roman" panose="02020603050405020304" pitchFamily="18" charset="0"/>
                <a:cs typeface="Times New Roman" panose="02020603050405020304" pitchFamily="18" charset="0"/>
              </a:rPr>
              <a:t>Problem Statement</a:t>
            </a:r>
          </a:p>
          <a:p>
            <a:pPr marL="458787" indent="-457200" eaLnBrk="1" hangingPunct="1">
              <a:lnSpc>
                <a:spcPct val="150000"/>
              </a:lnSpc>
              <a:spcBef>
                <a:spcPts val="325"/>
              </a:spcBef>
              <a:buClr>
                <a:srgbClr val="000000"/>
              </a:buClr>
              <a:buSzPct val="100000"/>
              <a:buFont typeface="+mj-lt"/>
              <a:buAutoNum type="arabicPeriod"/>
              <a:defRPr/>
            </a:pPr>
            <a:r>
              <a:rPr lang="en-US" altLang="en-US" dirty="0">
                <a:solidFill>
                  <a:srgbClr val="000000"/>
                </a:solidFill>
                <a:latin typeface="Times New Roman" panose="02020603050405020304" pitchFamily="18" charset="0"/>
                <a:cs typeface="Times New Roman" panose="02020603050405020304" pitchFamily="18" charset="0"/>
              </a:rPr>
              <a:t>Methodologies (Programming concepts relevant to problem statement)</a:t>
            </a:r>
          </a:p>
          <a:p>
            <a:pPr marL="344487" indent="-342900" eaLnBrk="1" hangingPunct="1">
              <a:lnSpc>
                <a:spcPct val="150000"/>
              </a:lnSpc>
              <a:spcBef>
                <a:spcPts val="325"/>
              </a:spcBef>
              <a:buClr>
                <a:srgbClr val="000000"/>
              </a:buClr>
              <a:buSzPct val="100000"/>
              <a:buFontTx/>
              <a:buAutoNum type="arabicPeriod" startAt="5"/>
              <a:defRPr/>
            </a:pPr>
            <a:r>
              <a:rPr lang="en-US" dirty="0">
                <a:latin typeface="Times New Roman" panose="02020603050405020304" pitchFamily="18" charset="0"/>
                <a:cs typeface="Times New Roman" panose="02020603050405020304" pitchFamily="18" charset="0"/>
              </a:rPr>
              <a:t>   Architecture of the proposed system </a:t>
            </a:r>
          </a:p>
          <a:p>
            <a:pPr marL="344487" indent="-342900" eaLnBrk="1" hangingPunct="1">
              <a:lnSpc>
                <a:spcPct val="150000"/>
              </a:lnSpc>
              <a:spcBef>
                <a:spcPts val="325"/>
              </a:spcBef>
              <a:buClr>
                <a:srgbClr val="000000"/>
              </a:buClr>
              <a:buSzPct val="100000"/>
              <a:buFontTx/>
              <a:buAutoNum type="arabicPeriod" startAt="5"/>
              <a:defRPr/>
            </a:pPr>
            <a:r>
              <a:rPr lang="en-US" altLang="en-US" dirty="0">
                <a:solidFill>
                  <a:srgbClr val="000000"/>
                </a:solidFill>
                <a:latin typeface="Times New Roman" panose="02020603050405020304" pitchFamily="18" charset="0"/>
                <a:cs typeface="Times New Roman" panose="02020603050405020304" pitchFamily="18" charset="0"/>
              </a:rPr>
              <a:t>   List of Modules</a:t>
            </a:r>
            <a:endParaRPr lang="en-US" dirty="0">
              <a:latin typeface="Times New Roman" panose="02020603050405020304" pitchFamily="18" charset="0"/>
              <a:cs typeface="Times New Roman" panose="02020603050405020304" pitchFamily="18" charset="0"/>
            </a:endParaRPr>
          </a:p>
          <a:p>
            <a:pPr marL="1587" indent="0" eaLnBrk="1" hangingPunct="1">
              <a:lnSpc>
                <a:spcPct val="150000"/>
              </a:lnSpc>
              <a:spcBef>
                <a:spcPts val="325"/>
              </a:spcBef>
              <a:buClr>
                <a:srgbClr val="000000"/>
              </a:buClr>
              <a:buSzPct val="100000"/>
              <a:defRPr/>
            </a:pPr>
            <a:r>
              <a:rPr lang="en-US" dirty="0">
                <a:latin typeface="Times New Roman" panose="02020603050405020304" pitchFamily="18" charset="0"/>
                <a:cs typeface="Times New Roman" panose="02020603050405020304" pitchFamily="18" charset="0"/>
              </a:rPr>
              <a:t>7.       Merits </a:t>
            </a:r>
          </a:p>
          <a:p>
            <a:pPr marL="458787" indent="-457200" eaLnBrk="1" hangingPunct="1">
              <a:lnSpc>
                <a:spcPct val="150000"/>
              </a:lnSpc>
              <a:spcBef>
                <a:spcPts val="325"/>
              </a:spcBef>
              <a:buClr>
                <a:srgbClr val="000000"/>
              </a:buClr>
              <a:buSzPct val="100000"/>
              <a:defRPr/>
            </a:pPr>
            <a:r>
              <a:rPr lang="en-US" dirty="0">
                <a:latin typeface="Times New Roman" panose="02020603050405020304" pitchFamily="18" charset="0"/>
                <a:cs typeface="Times New Roman" panose="02020603050405020304" pitchFamily="18" charset="0"/>
              </a:rPr>
              <a:t>8.       Results and Discussion</a:t>
            </a:r>
          </a:p>
          <a:p>
            <a:pPr marL="458787" indent="-457200" eaLnBrk="1" hangingPunct="1">
              <a:lnSpc>
                <a:spcPct val="150000"/>
              </a:lnSpc>
              <a:spcBef>
                <a:spcPts val="325"/>
              </a:spcBef>
              <a:buClr>
                <a:srgbClr val="000000"/>
              </a:buClr>
              <a:buSzPct val="100000"/>
              <a:defRPr/>
            </a:pPr>
            <a:r>
              <a:rPr lang="en-US" dirty="0">
                <a:latin typeface="Times New Roman" panose="02020603050405020304" pitchFamily="18" charset="0"/>
                <a:cs typeface="Times New Roman" panose="02020603050405020304" pitchFamily="18" charset="0"/>
              </a:rPr>
              <a:t>9.       Queries</a:t>
            </a:r>
          </a:p>
          <a:p>
            <a:pPr marL="1587" indent="0" algn="just" eaLnBrk="1" hangingPunct="1">
              <a:lnSpc>
                <a:spcPct val="150000"/>
              </a:lnSpc>
              <a:spcBef>
                <a:spcPts val="325"/>
              </a:spcBef>
              <a:buClr>
                <a:srgbClr val="000000"/>
              </a:buClr>
              <a:buSzPct val="100000"/>
              <a:defRPr/>
            </a:pPr>
            <a:endParaRPr lang="en-US"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582" y="147145"/>
            <a:ext cx="8520600" cy="651642"/>
          </a:xfrm>
        </p:spPr>
        <p:txBody>
          <a:bodyPr>
            <a:normAutofit/>
          </a:bodyPr>
          <a:lstStyle/>
          <a:p>
            <a:pPr algn="ctr">
              <a:buClr>
                <a:srgbClr val="000000"/>
              </a:buClr>
            </a:pPr>
            <a:r>
              <a:rPr lang="en-US" sz="2400" b="1" dirty="0">
                <a:solidFill>
                  <a:schemeClr val="tx1">
                    <a:lumMod val="85000"/>
                    <a:lumOff val="15000"/>
                  </a:schemeClr>
                </a:solidFill>
              </a:rPr>
              <a:t>OBJECTIVE</a:t>
            </a:r>
          </a:p>
        </p:txBody>
      </p:sp>
      <p:sp>
        <p:nvSpPr>
          <p:cNvPr id="3" name="Text Placeholder 2"/>
          <p:cNvSpPr>
            <a:spLocks noGrp="1"/>
          </p:cNvSpPr>
          <p:nvPr>
            <p:ph type="body" idx="1"/>
          </p:nvPr>
        </p:nvSpPr>
        <p:spPr/>
        <p:txBody>
          <a:bodyPr>
            <a:normAutofit/>
          </a:bodyPr>
          <a:lstStyle/>
          <a:p>
            <a:pPr marL="114300" indent="0" algn="just">
              <a:lnSpc>
                <a:spcPct val="150000"/>
              </a:lnSpc>
              <a:buNone/>
            </a:pPr>
            <a:r>
              <a:rPr lang="en-US" sz="1600" i="0" dirty="0">
                <a:solidFill>
                  <a:srgbClr val="0D0D0D"/>
                </a:solidFill>
                <a:effectLst/>
                <a:latin typeface="Times New Roman" panose="02020603050405020304" pitchFamily="18" charset="0"/>
                <a:cs typeface="Times New Roman" panose="02020603050405020304" pitchFamily="18" charset="0"/>
              </a:rPr>
              <a:t>The primary objective of the project is to develop an efficient Online Job Portal that connects job seekers and employers. The platform aims to:</a:t>
            </a:r>
          </a:p>
          <a:p>
            <a:pPr marL="114300" indent="0" algn="just">
              <a:lnSpc>
                <a:spcPct val="150000"/>
              </a:lnSpc>
              <a:buNone/>
            </a:pPr>
            <a:endParaRPr lang="en-US" sz="1600" i="0" dirty="0">
              <a:solidFill>
                <a:srgbClr val="0D0D0D"/>
              </a:solidFill>
              <a:effectLst/>
              <a:latin typeface="Times New Roman" panose="02020603050405020304" pitchFamily="18" charset="0"/>
              <a:cs typeface="Times New Roman" panose="02020603050405020304" pitchFamily="18" charset="0"/>
            </a:endParaRPr>
          </a:p>
          <a:p>
            <a:pPr algn="just">
              <a:lnSpc>
                <a:spcPct val="150000"/>
              </a:lnSpc>
              <a:buClrTx/>
              <a:buFont typeface="Arial" panose="020B0604020202020204" pitchFamily="34" charset="0"/>
              <a:buChar char="•"/>
            </a:pPr>
            <a:r>
              <a:rPr lang="en-US" sz="1600" b="0" i="0" dirty="0">
                <a:solidFill>
                  <a:srgbClr val="0D0D0D"/>
                </a:solidFill>
                <a:effectLst/>
                <a:latin typeface="Times New Roman" panose="02020603050405020304" pitchFamily="18" charset="0"/>
                <a:cs typeface="Times New Roman" panose="02020603050405020304" pitchFamily="18" charset="0"/>
              </a:rPr>
              <a:t>Simplify the job search and application process for candidates.</a:t>
            </a:r>
          </a:p>
          <a:p>
            <a:pPr algn="just">
              <a:lnSpc>
                <a:spcPct val="150000"/>
              </a:lnSpc>
              <a:buClrTx/>
              <a:buFont typeface="Arial" panose="020B0604020202020204" pitchFamily="34" charset="0"/>
              <a:buChar char="•"/>
            </a:pPr>
            <a:r>
              <a:rPr lang="en-US" sz="1600" b="0" i="0" dirty="0">
                <a:solidFill>
                  <a:srgbClr val="0D0D0D"/>
                </a:solidFill>
                <a:effectLst/>
                <a:latin typeface="Times New Roman" panose="02020603050405020304" pitchFamily="18" charset="0"/>
                <a:cs typeface="Times New Roman" panose="02020603050405020304" pitchFamily="18" charset="0"/>
              </a:rPr>
              <a:t>Enable employers to post jobs, search for candidates, and manage recruitment seamlessly.</a:t>
            </a:r>
          </a:p>
          <a:p>
            <a:pPr algn="just">
              <a:lnSpc>
                <a:spcPct val="150000"/>
              </a:lnSpc>
              <a:buClrTx/>
              <a:buFont typeface="Arial" panose="020B0604020202020204" pitchFamily="34" charset="0"/>
              <a:buChar char="•"/>
            </a:pPr>
            <a:r>
              <a:rPr lang="en-US" sz="1600" b="0" i="0" dirty="0">
                <a:solidFill>
                  <a:srgbClr val="0D0D0D"/>
                </a:solidFill>
                <a:effectLst/>
                <a:latin typeface="Times New Roman" panose="02020603050405020304" pitchFamily="18" charset="0"/>
                <a:cs typeface="Times New Roman" panose="02020603050405020304" pitchFamily="18" charset="0"/>
              </a:rPr>
              <a:t>Provide a user-friendly interface with robust functionalities for efficient job matching and application management</a:t>
            </a:r>
            <a:r>
              <a:rPr lang="en-US" sz="1600" b="0" i="0" dirty="0">
                <a:solidFill>
                  <a:srgbClr val="0D0D0D"/>
                </a:solidFill>
                <a:effectLst/>
                <a:latin typeface="ui-sans-serif"/>
              </a:rPr>
              <a:t>.</a:t>
            </a:r>
          </a:p>
          <a:p>
            <a:pPr>
              <a:buFont typeface="+mj-lt"/>
              <a:buAutoNum type="arabicPeriod"/>
            </a:pPr>
            <a:endParaRPr lang="en-US" sz="1400" dirty="0">
              <a:latin typeface="Times New Roman" panose="02020603050405020304" pitchFamily="18" charset="0"/>
              <a:cs typeface="Times New Roman" panose="02020603050405020304" pitchFamily="18" charset="0"/>
            </a:endParaRPr>
          </a:p>
        </p:txBody>
      </p:sp>
      <p:pic>
        <p:nvPicPr>
          <p:cNvPr id="4" name="Google Shape;71;p15"/>
          <p:cNvPicPr preferRelativeResize="0"/>
          <p:nvPr/>
        </p:nvPicPr>
        <p:blipFill rotWithShape="1">
          <a:blip r:embed="rId2">
            <a:alphaModFix/>
          </a:blip>
          <a:srcRect/>
          <a:stretch/>
        </p:blipFill>
        <p:spPr>
          <a:xfrm>
            <a:off x="0" y="3"/>
            <a:ext cx="762558" cy="762395"/>
          </a:xfrm>
          <a:prstGeom prst="rect">
            <a:avLst/>
          </a:prstGeom>
          <a:noFill/>
          <a:ln>
            <a:noFill/>
          </a:ln>
        </p:spPr>
      </p:pic>
      <p:pic>
        <p:nvPicPr>
          <p:cNvPr id="5" name="Google Shape;72;p15"/>
          <p:cNvPicPr preferRelativeResize="0"/>
          <p:nvPr/>
        </p:nvPicPr>
        <p:blipFill rotWithShape="1">
          <a:blip r:embed="rId3">
            <a:alphaModFix/>
          </a:blip>
          <a:srcRect/>
          <a:stretch/>
        </p:blipFill>
        <p:spPr>
          <a:xfrm>
            <a:off x="8319030" y="6"/>
            <a:ext cx="824970" cy="7955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15"/>
          <p:cNvPicPr preferRelativeResize="0"/>
          <p:nvPr/>
        </p:nvPicPr>
        <p:blipFill rotWithShape="1">
          <a:blip r:embed="rId3">
            <a:alphaModFix/>
          </a:blip>
          <a:srcRect/>
          <a:stretch/>
        </p:blipFill>
        <p:spPr>
          <a:xfrm>
            <a:off x="0" y="3"/>
            <a:ext cx="762558" cy="762395"/>
          </a:xfrm>
          <a:prstGeom prst="rect">
            <a:avLst/>
          </a:prstGeom>
          <a:noFill/>
          <a:ln>
            <a:noFill/>
          </a:ln>
        </p:spPr>
      </p:pic>
      <p:pic>
        <p:nvPicPr>
          <p:cNvPr id="72" name="Google Shape;72;p15"/>
          <p:cNvPicPr preferRelativeResize="0"/>
          <p:nvPr/>
        </p:nvPicPr>
        <p:blipFill rotWithShape="1">
          <a:blip r:embed="rId4">
            <a:alphaModFix/>
          </a:blip>
          <a:srcRect/>
          <a:stretch/>
        </p:blipFill>
        <p:spPr>
          <a:xfrm>
            <a:off x="8319030" y="6"/>
            <a:ext cx="824970" cy="795591"/>
          </a:xfrm>
          <a:prstGeom prst="rect">
            <a:avLst/>
          </a:prstGeom>
          <a:noFill/>
          <a:ln>
            <a:noFill/>
          </a:ln>
        </p:spPr>
      </p:pic>
      <p:sp>
        <p:nvSpPr>
          <p:cNvPr id="73" name="Google Shape;73;p15"/>
          <p:cNvSpPr txBox="1"/>
          <p:nvPr/>
        </p:nvSpPr>
        <p:spPr>
          <a:xfrm>
            <a:off x="38100" y="120750"/>
            <a:ext cx="906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dirty="0">
                <a:solidFill>
                  <a:schemeClr val="tx1">
                    <a:lumMod val="85000"/>
                    <a:lumOff val="15000"/>
                  </a:schemeClr>
                </a:solidFill>
              </a:rPr>
              <a:t>PROJECT INTRODUCTION</a:t>
            </a:r>
            <a:endParaRPr sz="2400" b="1">
              <a:solidFill>
                <a:schemeClr val="tx1">
                  <a:lumMod val="85000"/>
                  <a:lumOff val="15000"/>
                </a:schemeClr>
              </a:solidFill>
              <a:latin typeface="Calibri"/>
              <a:ea typeface="Calibri"/>
              <a:cs typeface="Calibri"/>
              <a:sym typeface="Calibri"/>
            </a:endParaRPr>
          </a:p>
        </p:txBody>
      </p:sp>
      <p:sp>
        <p:nvSpPr>
          <p:cNvPr id="3" name="TextBox 2"/>
          <p:cNvSpPr txBox="1"/>
          <p:nvPr/>
        </p:nvSpPr>
        <p:spPr>
          <a:xfrm>
            <a:off x="762556" y="1284269"/>
            <a:ext cx="7556473" cy="2182777"/>
          </a:xfrm>
          <a:prstGeom prst="rect">
            <a:avLst/>
          </a:prstGeom>
          <a:noFill/>
        </p:spPr>
        <p:txBody>
          <a:bodyPr wrap="square" rtlCol="0">
            <a:spAutoFit/>
          </a:bodyPr>
          <a:lstStyle/>
          <a:p>
            <a:pPr algn="just">
              <a:lnSpc>
                <a:spcPct val="150000"/>
              </a:lnSpc>
            </a:pPr>
            <a:r>
              <a:rPr lang="en-US" sz="1200" dirty="0">
                <a:latin typeface="Times New Roman" pitchFamily="18" charset="0"/>
                <a:ea typeface="+mn-lt"/>
                <a:cs typeface="Times New Roman" pitchFamily="18" charset="0"/>
              </a:rPr>
              <a:t> </a:t>
            </a:r>
            <a:r>
              <a:rPr lang="en-US" sz="1600" b="0" i="0" dirty="0">
                <a:solidFill>
                  <a:srgbClr val="0D0D0D"/>
                </a:solidFill>
                <a:effectLst/>
                <a:latin typeface="Times New Roman" panose="02020603050405020304" pitchFamily="18" charset="0"/>
                <a:cs typeface="Times New Roman" panose="02020603050405020304" pitchFamily="18" charset="0"/>
              </a:rPr>
              <a:t>The Online Job Portal is a web-based platform designed to bridge the gap between job        seekers and employers. It provides:</a:t>
            </a:r>
          </a:p>
          <a:p>
            <a:pPr algn="just">
              <a:lnSpc>
                <a:spcPct val="150000"/>
              </a:lnSpc>
              <a:buFont typeface="Arial" panose="020B0604020202020204" pitchFamily="34" charset="0"/>
              <a:buChar char="•"/>
            </a:pPr>
            <a:r>
              <a:rPr lang="en-US" sz="1600" b="0" i="0" dirty="0">
                <a:solidFill>
                  <a:srgbClr val="0D0D0D"/>
                </a:solidFill>
                <a:effectLst/>
                <a:latin typeface="Times New Roman" panose="02020603050405020304" pitchFamily="18" charset="0"/>
                <a:cs typeface="Times New Roman" panose="02020603050405020304" pitchFamily="18" charset="0"/>
              </a:rPr>
              <a:t> A database of job listings and candidate profiles.</a:t>
            </a:r>
          </a:p>
          <a:p>
            <a:pPr algn="just">
              <a:lnSpc>
                <a:spcPct val="150000"/>
              </a:lnSpc>
              <a:buFont typeface="Arial" panose="020B0604020202020204" pitchFamily="34" charset="0"/>
              <a:buChar char="•"/>
            </a:pPr>
            <a:r>
              <a:rPr lang="en-US" sz="1600" b="0" i="0" dirty="0">
                <a:solidFill>
                  <a:srgbClr val="0D0D0D"/>
                </a:solidFill>
                <a:effectLst/>
                <a:latin typeface="Times New Roman" panose="02020603050405020304" pitchFamily="18" charset="0"/>
                <a:cs typeface="Times New Roman" panose="02020603050405020304" pitchFamily="18" charset="0"/>
              </a:rPr>
              <a:t> Tools for managing job applications and recruitments.</a:t>
            </a:r>
          </a:p>
          <a:p>
            <a:pPr algn="just">
              <a:lnSpc>
                <a:spcPct val="150000"/>
              </a:lnSpc>
              <a:buFont typeface="Arial" panose="020B0604020202020204" pitchFamily="34" charset="0"/>
              <a:buChar char="•"/>
            </a:pPr>
            <a:r>
              <a:rPr lang="en-US" sz="1600" b="0" i="0" dirty="0">
                <a:solidFill>
                  <a:srgbClr val="0D0D0D"/>
                </a:solidFill>
                <a:effectLst/>
                <a:latin typeface="Times New Roman" panose="02020603050405020304" pitchFamily="18" charset="0"/>
                <a:cs typeface="Times New Roman" panose="02020603050405020304" pitchFamily="18" charset="0"/>
              </a:rPr>
              <a:t> Notifications for job updates and recommendations</a:t>
            </a:r>
            <a:r>
              <a:rPr lang="en-US" sz="1600" b="0" i="0" dirty="0">
                <a:solidFill>
                  <a:srgbClr val="0D0D0D"/>
                </a:solidFill>
                <a:effectLst/>
                <a:latin typeface="ui-sans-serif"/>
              </a:rPr>
              <a:t>.</a:t>
            </a:r>
          </a:p>
          <a:p>
            <a:pPr algn="just">
              <a:lnSpc>
                <a:spcPct val="150000"/>
              </a:lnSpc>
              <a:buFont typeface="Arial" panose="020B0604020202020204" pitchFamily="34" charset="0"/>
              <a:buChar char="•"/>
            </a:pPr>
            <a:endParaRPr lang="en-US" sz="12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11700" y="220717"/>
            <a:ext cx="8520600" cy="672662"/>
          </a:xfrm>
        </p:spPr>
        <p:txBody>
          <a:bodyPr>
            <a:normAutofit/>
          </a:bodyPr>
          <a:lstStyle/>
          <a:p>
            <a:r>
              <a:rPr lang="en-US" dirty="0"/>
              <a:t>		 </a:t>
            </a:r>
            <a:r>
              <a:rPr lang="en-US" b="1" dirty="0">
                <a:solidFill>
                  <a:schemeClr val="tx1">
                    <a:lumMod val="85000"/>
                    <a:lumOff val="15000"/>
                  </a:schemeClr>
                </a:solidFill>
              </a:rPr>
              <a:t>PROBLEM STATEMENT</a:t>
            </a:r>
            <a:endParaRPr lang="en-IN" b="1" dirty="0">
              <a:solidFill>
                <a:schemeClr val="tx1">
                  <a:lumMod val="85000"/>
                  <a:lumOff val="15000"/>
                </a:schemeClr>
              </a:solidFill>
            </a:endParaRPr>
          </a:p>
        </p:txBody>
      </p:sp>
      <p:sp>
        <p:nvSpPr>
          <p:cNvPr id="9" name="Text Placeholder 8"/>
          <p:cNvSpPr>
            <a:spLocks noGrp="1"/>
          </p:cNvSpPr>
          <p:nvPr>
            <p:ph type="body" idx="1"/>
          </p:nvPr>
        </p:nvSpPr>
        <p:spPr/>
        <p:txBody>
          <a:bodyPr>
            <a:normAutofit/>
          </a:bodyPr>
          <a:lstStyle/>
          <a:p>
            <a:pPr algn="just">
              <a:lnSpc>
                <a:spcPct val="150000"/>
              </a:lnSpc>
              <a:buFont typeface="Arial" panose="020B0604020202020204" pitchFamily="34" charset="0"/>
              <a:buChar char="•"/>
            </a:pPr>
            <a:r>
              <a:rPr lang="en-US" sz="1400" b="0" i="0" dirty="0">
                <a:solidFill>
                  <a:srgbClr val="0D0D0D"/>
                </a:solidFill>
                <a:effectLst/>
                <a:latin typeface="Times New Roman" panose="02020603050405020304" pitchFamily="18" charset="0"/>
                <a:cs typeface="Times New Roman" panose="02020603050405020304" pitchFamily="18" charset="0"/>
              </a:rPr>
              <a:t>The job search and recruitment process is often inefficient and fragmented. Job seekers struggle to find relevant jobs, and employers face difficulties in managing applications and identifying the right candidates. Existing platforms lack advanced features like personalized recommendations, real-time notifications, and effective communication, leading to delays and frustration for both parties. There is a need for a streamlined, user-friendly system that simplifies job matching, application tracking, and recruitment.</a:t>
            </a:r>
            <a:endParaRPr lang="en-IN" sz="1400" dirty="0">
              <a:latin typeface="Times New Roman" panose="02020603050405020304" pitchFamily="18" charset="0"/>
              <a:cs typeface="Times New Roman" panose="02020603050405020304" pitchFamily="18" charset="0"/>
            </a:endParaRPr>
          </a:p>
        </p:txBody>
      </p:sp>
      <p:pic>
        <p:nvPicPr>
          <p:cNvPr id="4" name="Google Shape;71;p15"/>
          <p:cNvPicPr preferRelativeResize="0"/>
          <p:nvPr/>
        </p:nvPicPr>
        <p:blipFill rotWithShape="1">
          <a:blip r:embed="rId2">
            <a:alphaModFix/>
          </a:blip>
          <a:srcRect/>
          <a:stretch/>
        </p:blipFill>
        <p:spPr>
          <a:xfrm>
            <a:off x="0" y="0"/>
            <a:ext cx="762558" cy="762395"/>
          </a:xfrm>
          <a:prstGeom prst="rect">
            <a:avLst/>
          </a:prstGeom>
          <a:noFill/>
          <a:ln>
            <a:noFill/>
          </a:ln>
        </p:spPr>
      </p:pic>
      <p:pic>
        <p:nvPicPr>
          <p:cNvPr id="5" name="Google Shape;72;p15"/>
          <p:cNvPicPr preferRelativeResize="0"/>
          <p:nvPr/>
        </p:nvPicPr>
        <p:blipFill rotWithShape="1">
          <a:blip r:embed="rId3">
            <a:alphaModFix/>
          </a:blip>
          <a:srcRect/>
          <a:stretch/>
        </p:blipFill>
        <p:spPr>
          <a:xfrm>
            <a:off x="8319030" y="6"/>
            <a:ext cx="824970" cy="7955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3378" y="178676"/>
            <a:ext cx="7938921" cy="839049"/>
          </a:xfrm>
        </p:spPr>
        <p:txBody>
          <a:bodyPr>
            <a:normAutofit fontScale="90000"/>
          </a:bodyPr>
          <a:lstStyle/>
          <a:p>
            <a:r>
              <a:rPr lang="en-US" altLang="en-US" dirty="0">
                <a:solidFill>
                  <a:schemeClr val="tx1">
                    <a:lumMod val="85000"/>
                    <a:lumOff val="15000"/>
                  </a:schemeClr>
                </a:solidFill>
                <a:cs typeface="Arial" panose="020B0604020202020204" pitchFamily="34" charset="0"/>
              </a:rPr>
              <a:t>Methodologies (Programming concepts relevant to problem statement)</a:t>
            </a:r>
            <a:br>
              <a:rPr lang="en-US" altLang="en-US" b="1" dirty="0">
                <a:solidFill>
                  <a:srgbClr val="000000"/>
                </a:solidFill>
                <a:cs typeface="Arial" panose="020B0604020202020204" pitchFamily="34" charset="0"/>
              </a:rPr>
            </a:br>
            <a:endParaRPr lang="en-IN" dirty="0"/>
          </a:p>
        </p:txBody>
      </p:sp>
      <p:sp>
        <p:nvSpPr>
          <p:cNvPr id="3" name="Text Placeholder 2"/>
          <p:cNvSpPr>
            <a:spLocks noGrp="1"/>
          </p:cNvSpPr>
          <p:nvPr>
            <p:ph type="body" idx="1"/>
          </p:nvPr>
        </p:nvSpPr>
        <p:spPr>
          <a:xfrm>
            <a:off x="311700" y="1152474"/>
            <a:ext cx="8520600" cy="3812349"/>
          </a:xfrm>
        </p:spPr>
        <p:txBody>
          <a:bodyPr>
            <a:normAutofit/>
          </a:bodyPr>
          <a:lstStyle/>
          <a:p>
            <a:pPr marL="114300" indent="0">
              <a:buClrTx/>
              <a:buSzPct val="135000"/>
              <a:buNone/>
            </a:pPr>
            <a:r>
              <a:rPr lang="en-US" sz="1500" b="1" i="0" dirty="0">
                <a:solidFill>
                  <a:srgbClr val="0D0D0D"/>
                </a:solidFill>
                <a:effectLst/>
                <a:latin typeface="Times New Roman" panose="02020603050405020304" pitchFamily="18" charset="0"/>
                <a:cs typeface="Times New Roman" panose="02020603050405020304" pitchFamily="18" charset="0"/>
              </a:rPr>
              <a:t>Methodology:</a:t>
            </a:r>
          </a:p>
          <a:p>
            <a:pPr>
              <a:buClrTx/>
              <a:buSzPct val="135000"/>
              <a:buFont typeface="Arial" panose="020B0604020202020204" pitchFamily="34" charset="0"/>
              <a:buChar char="•"/>
            </a:pPr>
            <a:r>
              <a:rPr lang="en-US" sz="1500" i="0" dirty="0">
                <a:solidFill>
                  <a:srgbClr val="0D0D0D"/>
                </a:solidFill>
                <a:effectLst/>
                <a:latin typeface="Times New Roman" panose="02020603050405020304" pitchFamily="18" charset="0"/>
                <a:cs typeface="Times New Roman" panose="02020603050405020304" pitchFamily="18" charset="0"/>
              </a:rPr>
              <a:t>Requirement Analysis: Understand and define the needs of job seekers, employers, and administrators.</a:t>
            </a:r>
          </a:p>
          <a:p>
            <a:pPr>
              <a:buClrTx/>
              <a:buSzPct val="135000"/>
              <a:buFont typeface="Arial" panose="020B0604020202020204" pitchFamily="34" charset="0"/>
              <a:buChar char="•"/>
            </a:pPr>
            <a:r>
              <a:rPr lang="en-US" sz="1500" i="0" dirty="0">
                <a:solidFill>
                  <a:srgbClr val="0D0D0D"/>
                </a:solidFill>
                <a:effectLst/>
                <a:latin typeface="Times New Roman" panose="02020603050405020304" pitchFamily="18" charset="0"/>
                <a:cs typeface="Times New Roman" panose="02020603050405020304" pitchFamily="18" charset="0"/>
              </a:rPr>
              <a:t>System Design: Create a blueprint of the platform with modules for user management, job postings, search functionality, and notifications.</a:t>
            </a:r>
          </a:p>
          <a:p>
            <a:pPr>
              <a:buClrTx/>
              <a:buSzPct val="135000"/>
              <a:buFont typeface="Arial" panose="020B0604020202020204" pitchFamily="34" charset="0"/>
              <a:buChar char="•"/>
            </a:pPr>
            <a:r>
              <a:rPr lang="en-US" sz="1500" i="0" dirty="0">
                <a:solidFill>
                  <a:srgbClr val="0D0D0D"/>
                </a:solidFill>
                <a:effectLst/>
                <a:latin typeface="Times New Roman" panose="02020603050405020304" pitchFamily="18" charset="0"/>
                <a:cs typeface="Times New Roman" panose="02020603050405020304" pitchFamily="18" charset="0"/>
              </a:rPr>
              <a:t>Resume</a:t>
            </a:r>
            <a:r>
              <a:rPr lang="en-US" sz="1500" b="1" i="0" dirty="0">
                <a:solidFill>
                  <a:srgbClr val="0D0D0D"/>
                </a:solidFill>
                <a:effectLst/>
                <a:latin typeface="Times New Roman" panose="02020603050405020304" pitchFamily="18" charset="0"/>
                <a:cs typeface="Times New Roman" panose="02020603050405020304" pitchFamily="18" charset="0"/>
              </a:rPr>
              <a:t> </a:t>
            </a:r>
            <a:r>
              <a:rPr lang="en-US" sz="1500" i="0" dirty="0">
                <a:solidFill>
                  <a:srgbClr val="0D0D0D"/>
                </a:solidFill>
                <a:effectLst/>
                <a:latin typeface="Times New Roman" panose="02020603050405020304" pitchFamily="18" charset="0"/>
                <a:cs typeface="Times New Roman" panose="02020603050405020304" pitchFamily="18" charset="0"/>
              </a:rPr>
              <a:t>Management</a:t>
            </a:r>
            <a:r>
              <a:rPr lang="en-US" sz="1500" b="0" i="0" dirty="0">
                <a:solidFill>
                  <a:srgbClr val="0D0D0D"/>
                </a:solidFill>
                <a:effectLst/>
                <a:latin typeface="Times New Roman" panose="02020603050405020304" pitchFamily="18" charset="0"/>
                <a:cs typeface="Times New Roman" panose="02020603050405020304" pitchFamily="18" charset="0"/>
              </a:rPr>
              <a:t>: Enable file uploads and parsing for resumes using Java File I/O.</a:t>
            </a:r>
          </a:p>
          <a:p>
            <a:pPr>
              <a:buClrTx/>
              <a:buSzPct val="135000"/>
              <a:buFont typeface="Arial" panose="020B0604020202020204" pitchFamily="34" charset="0"/>
              <a:buChar char="•"/>
            </a:pPr>
            <a:r>
              <a:rPr lang="en-US" sz="1500" i="0" dirty="0">
                <a:solidFill>
                  <a:srgbClr val="0D0D0D"/>
                </a:solidFill>
                <a:effectLst/>
                <a:latin typeface="Times New Roman" panose="02020603050405020304" pitchFamily="18" charset="0"/>
                <a:cs typeface="Times New Roman" panose="02020603050405020304" pitchFamily="18" charset="0"/>
              </a:rPr>
              <a:t>Job Search and Matching</a:t>
            </a:r>
            <a:r>
              <a:rPr lang="en-US" sz="1500" b="0" i="0" dirty="0">
                <a:solidFill>
                  <a:srgbClr val="0D0D0D"/>
                </a:solidFill>
                <a:effectLst/>
                <a:latin typeface="Times New Roman" panose="02020603050405020304" pitchFamily="18" charset="0"/>
                <a:cs typeface="Times New Roman" panose="02020603050405020304" pitchFamily="18" charset="0"/>
              </a:rPr>
              <a:t>: Implement search and filtering with Java Collections (e.g., </a:t>
            </a:r>
            <a:r>
              <a:rPr lang="en-US" sz="1500" b="0" i="0" dirty="0" err="1">
                <a:solidFill>
                  <a:srgbClr val="0D0D0D"/>
                </a:solidFill>
                <a:effectLst/>
                <a:latin typeface="Times New Roman" panose="02020603050405020304" pitchFamily="18" charset="0"/>
                <a:cs typeface="Times New Roman" panose="02020603050405020304" pitchFamily="18" charset="0"/>
              </a:rPr>
              <a:t>ArrayList</a:t>
            </a:r>
            <a:r>
              <a:rPr lang="en-US" sz="1500" b="0" i="0" dirty="0">
                <a:solidFill>
                  <a:srgbClr val="0D0D0D"/>
                </a:solidFill>
                <a:effectLst/>
                <a:latin typeface="Times New Roman" panose="02020603050405020304" pitchFamily="18" charset="0"/>
                <a:cs typeface="Times New Roman" panose="02020603050405020304" pitchFamily="18" charset="0"/>
              </a:rPr>
              <a:t>, HashMap) and keyword matching logic.</a:t>
            </a:r>
          </a:p>
          <a:p>
            <a:pPr marL="114300" indent="0">
              <a:buClrTx/>
              <a:buSzPct val="113000"/>
              <a:buNone/>
            </a:pPr>
            <a:r>
              <a:rPr lang="en-US" sz="1500" b="1" dirty="0">
                <a:solidFill>
                  <a:srgbClr val="0D0D0D"/>
                </a:solidFill>
                <a:latin typeface="Times New Roman" panose="02020603050405020304" pitchFamily="18" charset="0"/>
                <a:cs typeface="Times New Roman" panose="02020603050405020304" pitchFamily="18" charset="0"/>
              </a:rPr>
              <a:t>Java Concepts:</a:t>
            </a:r>
            <a:r>
              <a:rPr lang="en-IN" sz="1500" b="1" dirty="0">
                <a:solidFill>
                  <a:schemeClr val="tx1">
                    <a:lumMod val="95000"/>
                    <a:lumOff val="5000"/>
                  </a:schemeClr>
                </a:solidFill>
                <a:latin typeface="Times New Roman" pitchFamily="18" charset="0"/>
                <a:cs typeface="Times New Roman" pitchFamily="18" charset="0"/>
              </a:rPr>
              <a:t> </a:t>
            </a:r>
          </a:p>
          <a:p>
            <a:pPr>
              <a:buClrTx/>
              <a:buSzPct val="113000"/>
              <a:buFont typeface="Arial" panose="020B0604020202020204" pitchFamily="34" charset="0"/>
              <a:buChar char="•"/>
            </a:pPr>
            <a:r>
              <a:rPr lang="en-US" altLang="en-US" sz="1400" dirty="0">
                <a:solidFill>
                  <a:srgbClr val="0D0D0D"/>
                </a:solidFill>
                <a:latin typeface="Times New Roman" panose="02020603050405020304" pitchFamily="18" charset="0"/>
                <a:cs typeface="Times New Roman" panose="02020603050405020304" pitchFamily="18" charset="0"/>
              </a:rPr>
              <a:t>Class and Object: Define </a:t>
            </a:r>
            <a:r>
              <a:rPr lang="en-US" altLang="en-US" sz="1400" dirty="0" err="1">
                <a:solidFill>
                  <a:srgbClr val="0D0D0D"/>
                </a:solidFill>
                <a:latin typeface="Times New Roman" panose="02020603050405020304" pitchFamily="18" charset="0"/>
                <a:cs typeface="Times New Roman" panose="02020603050405020304" pitchFamily="18" charset="0"/>
              </a:rPr>
              <a:t>JobSeeker</a:t>
            </a:r>
            <a:r>
              <a:rPr lang="en-US" altLang="en-US" sz="1400" dirty="0">
                <a:solidFill>
                  <a:srgbClr val="0D0D0D"/>
                </a:solidFill>
                <a:latin typeface="Times New Roman" panose="02020603050405020304" pitchFamily="18" charset="0"/>
                <a:cs typeface="Times New Roman" panose="02020603050405020304" pitchFamily="18" charset="0"/>
              </a:rPr>
              <a:t>, Employer, and Job as classes to represent these entities.</a:t>
            </a:r>
          </a:p>
          <a:p>
            <a:pPr>
              <a:buClrTx/>
              <a:buSzPct val="113000"/>
              <a:buFont typeface="Arial" panose="020B0604020202020204" pitchFamily="34" charset="0"/>
              <a:buChar char="•"/>
            </a:pPr>
            <a:r>
              <a:rPr lang="en-US" altLang="en-US" sz="1400" dirty="0">
                <a:solidFill>
                  <a:srgbClr val="0D0D0D"/>
                </a:solidFill>
                <a:latin typeface="Times New Roman" panose="02020603050405020304" pitchFamily="18" charset="0"/>
                <a:cs typeface="Times New Roman" panose="02020603050405020304" pitchFamily="18" charset="0"/>
              </a:rPr>
              <a:t>Inheritance: Create a base class like User and extend it for </a:t>
            </a:r>
            <a:r>
              <a:rPr lang="en-US" altLang="en-US" sz="1400" dirty="0" err="1">
                <a:solidFill>
                  <a:srgbClr val="0D0D0D"/>
                </a:solidFill>
                <a:latin typeface="Times New Roman" panose="02020603050405020304" pitchFamily="18" charset="0"/>
                <a:cs typeface="Times New Roman" panose="02020603050405020304" pitchFamily="18" charset="0"/>
              </a:rPr>
              <a:t>JobSeeker</a:t>
            </a:r>
            <a:r>
              <a:rPr lang="en-US" altLang="en-US" sz="1400" dirty="0">
                <a:solidFill>
                  <a:srgbClr val="0D0D0D"/>
                </a:solidFill>
                <a:latin typeface="Times New Roman" panose="02020603050405020304" pitchFamily="18" charset="0"/>
                <a:cs typeface="Times New Roman" panose="02020603050405020304" pitchFamily="18" charset="0"/>
              </a:rPr>
              <a:t> and Employer with additional attributes.</a:t>
            </a:r>
          </a:p>
          <a:p>
            <a:pPr>
              <a:buClrTx/>
              <a:buSzPct val="113000"/>
              <a:buFont typeface="Arial" panose="020B0604020202020204" pitchFamily="34" charset="0"/>
              <a:buChar char="•"/>
            </a:pPr>
            <a:r>
              <a:rPr lang="en-US" altLang="en-US" sz="1400" dirty="0">
                <a:solidFill>
                  <a:srgbClr val="0D0D0D"/>
                </a:solidFill>
                <a:latin typeface="Times New Roman" panose="02020603050405020304" pitchFamily="18" charset="0"/>
                <a:cs typeface="Times New Roman" panose="02020603050405020304" pitchFamily="18" charset="0"/>
              </a:rPr>
              <a:t>Encapsulation: Use private variables and public methods to ensure data security.</a:t>
            </a:r>
          </a:p>
          <a:p>
            <a:pPr>
              <a:buClrTx/>
              <a:buSzPct val="113000"/>
              <a:buFont typeface="Arial" panose="020B0604020202020204" pitchFamily="34" charset="0"/>
              <a:buChar char="•"/>
            </a:pPr>
            <a:r>
              <a:rPr lang="en-US" sz="1400" i="0" dirty="0" err="1">
                <a:solidFill>
                  <a:srgbClr val="0D0D0D"/>
                </a:solidFill>
                <a:effectLst/>
                <a:latin typeface="Times New Roman" panose="02020603050405020304" pitchFamily="18" charset="0"/>
                <a:cs typeface="Times New Roman" panose="02020603050405020304" pitchFamily="18" charset="0"/>
              </a:rPr>
              <a:t>Multithreading:Use</a:t>
            </a:r>
            <a:r>
              <a:rPr lang="en-US" sz="1400" i="0" dirty="0">
                <a:solidFill>
                  <a:srgbClr val="0D0D0D"/>
                </a:solidFill>
                <a:effectLst/>
                <a:latin typeface="Times New Roman" panose="02020603050405020304" pitchFamily="18" charset="0"/>
                <a:cs typeface="Times New Roman" panose="02020603050405020304" pitchFamily="18" charset="0"/>
              </a:rPr>
              <a:t> threads to handle multiple actions simultaneously, like sending notifications while the user interacts with the portal.</a:t>
            </a:r>
          </a:p>
          <a:p>
            <a:pPr>
              <a:buClrTx/>
              <a:buSzPct val="113000"/>
              <a:buFont typeface="Arial" panose="020B0604020202020204" pitchFamily="34" charset="0"/>
              <a:buChar char="•"/>
            </a:pPr>
            <a:endParaRPr lang="en-US" altLang="en-US" sz="1400" dirty="0">
              <a:solidFill>
                <a:srgbClr val="0D0D0D"/>
              </a:solidFill>
              <a:latin typeface="Times New Roman" panose="02020603050405020304" pitchFamily="18" charset="0"/>
              <a:cs typeface="Times New Roman" panose="02020603050405020304" pitchFamily="18" charset="0"/>
            </a:endParaRPr>
          </a:p>
          <a:p>
            <a:pPr>
              <a:buClrTx/>
              <a:buSzPct val="100000"/>
            </a:pPr>
            <a:endParaRPr lang="en-IN" sz="1400" b="1" dirty="0">
              <a:solidFill>
                <a:schemeClr val="tx1">
                  <a:lumMod val="95000"/>
                  <a:lumOff val="5000"/>
                </a:schemeClr>
              </a:solidFill>
              <a:latin typeface="Times New Roman" pitchFamily="18" charset="0"/>
              <a:cs typeface="Times New Roman" pitchFamily="18" charset="0"/>
            </a:endParaRPr>
          </a:p>
        </p:txBody>
      </p:sp>
      <p:pic>
        <p:nvPicPr>
          <p:cNvPr id="4" name="Google Shape;72;p15"/>
          <p:cNvPicPr preferRelativeResize="0"/>
          <p:nvPr/>
        </p:nvPicPr>
        <p:blipFill rotWithShape="1">
          <a:blip r:embed="rId2">
            <a:alphaModFix/>
          </a:blip>
          <a:srcRect/>
          <a:stretch/>
        </p:blipFill>
        <p:spPr>
          <a:xfrm>
            <a:off x="8319030" y="6"/>
            <a:ext cx="824970" cy="795591"/>
          </a:xfrm>
          <a:prstGeom prst="rect">
            <a:avLst/>
          </a:prstGeom>
          <a:noFill/>
          <a:ln>
            <a:noFill/>
          </a:ln>
        </p:spPr>
      </p:pic>
      <p:pic>
        <p:nvPicPr>
          <p:cNvPr id="5" name="Google Shape;71;p15"/>
          <p:cNvPicPr preferRelativeResize="0"/>
          <p:nvPr/>
        </p:nvPicPr>
        <p:blipFill rotWithShape="1">
          <a:blip r:embed="rId3">
            <a:alphaModFix/>
          </a:blip>
          <a:srcRect/>
          <a:stretch/>
        </p:blipFill>
        <p:spPr>
          <a:xfrm>
            <a:off x="0" y="0"/>
            <a:ext cx="762558" cy="762395"/>
          </a:xfrm>
          <a:prstGeom prst="rect">
            <a:avLst/>
          </a:prstGeom>
          <a:noFill/>
          <a:ln>
            <a:noFill/>
          </a:ln>
        </p:spPr>
      </p:pic>
      <p:sp>
        <p:nvSpPr>
          <p:cNvPr id="12" name="Rectangle 7">
            <a:extLst>
              <a:ext uri="{FF2B5EF4-FFF2-40B4-BE49-F238E27FC236}">
                <a16:creationId xmlns:a16="http://schemas.microsoft.com/office/drawing/2014/main" id="{DAEF26E2-D264-DE65-A357-65AB2BABAD23}"/>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9">
            <a:extLst>
              <a:ext uri="{FF2B5EF4-FFF2-40B4-BE49-F238E27FC236}">
                <a16:creationId xmlns:a16="http://schemas.microsoft.com/office/drawing/2014/main" id="{FA7448AD-5F10-6640-9B9C-B893252BF535}"/>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rotWithShape="1">
          <a:blip r:embed="rId3">
            <a:alphaModFix/>
          </a:blip>
          <a:srcRect/>
          <a:stretch/>
        </p:blipFill>
        <p:spPr>
          <a:xfrm>
            <a:off x="0" y="3"/>
            <a:ext cx="762558" cy="762395"/>
          </a:xfrm>
          <a:prstGeom prst="rect">
            <a:avLst/>
          </a:prstGeom>
          <a:noFill/>
          <a:ln>
            <a:noFill/>
          </a:ln>
        </p:spPr>
      </p:pic>
      <p:pic>
        <p:nvPicPr>
          <p:cNvPr id="79" name="Google Shape;79;p16"/>
          <p:cNvPicPr preferRelativeResize="0"/>
          <p:nvPr/>
        </p:nvPicPr>
        <p:blipFill rotWithShape="1">
          <a:blip r:embed="rId4">
            <a:alphaModFix/>
          </a:blip>
          <a:srcRect/>
          <a:stretch/>
        </p:blipFill>
        <p:spPr>
          <a:xfrm>
            <a:off x="8319030" y="6"/>
            <a:ext cx="824970" cy="795591"/>
          </a:xfrm>
          <a:prstGeom prst="rect">
            <a:avLst/>
          </a:prstGeom>
          <a:noFill/>
          <a:ln>
            <a:noFill/>
          </a:ln>
        </p:spPr>
      </p:pic>
      <p:sp>
        <p:nvSpPr>
          <p:cNvPr id="80" name="Google Shape;80;p16"/>
          <p:cNvSpPr txBox="1"/>
          <p:nvPr/>
        </p:nvSpPr>
        <p:spPr>
          <a:xfrm>
            <a:off x="-59657" y="120751"/>
            <a:ext cx="906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dirty="0">
                <a:solidFill>
                  <a:schemeClr val="tx1">
                    <a:lumMod val="85000"/>
                    <a:lumOff val="15000"/>
                  </a:schemeClr>
                </a:solidFill>
              </a:rPr>
              <a:t>FLOW DIAGRAM</a:t>
            </a:r>
            <a:endParaRPr sz="2400">
              <a:solidFill>
                <a:schemeClr val="tx1">
                  <a:lumMod val="85000"/>
                  <a:lumOff val="15000"/>
                </a:schemeClr>
              </a:solidFill>
              <a:latin typeface="Calibri"/>
              <a:ea typeface="Calibri"/>
              <a:cs typeface="Calibri"/>
              <a:sym typeface="Calibri"/>
            </a:endParaRPr>
          </a:p>
        </p:txBody>
      </p:sp>
      <p:pic>
        <p:nvPicPr>
          <p:cNvPr id="28" name="Picture 27">
            <a:extLst>
              <a:ext uri="{FF2B5EF4-FFF2-40B4-BE49-F238E27FC236}">
                <a16:creationId xmlns:a16="http://schemas.microsoft.com/office/drawing/2014/main" id="{AB21D802-338F-6C4E-D1C5-3AFA2AE01158}"/>
              </a:ext>
            </a:extLst>
          </p:cNvPr>
          <p:cNvPicPr>
            <a:picLocks noChangeAspect="1"/>
          </p:cNvPicPr>
          <p:nvPr/>
        </p:nvPicPr>
        <p:blipFill>
          <a:blip r:embed="rId5"/>
          <a:stretch>
            <a:fillRect/>
          </a:stretch>
        </p:blipFill>
        <p:spPr>
          <a:xfrm>
            <a:off x="615353" y="855577"/>
            <a:ext cx="7913294" cy="3432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p:cNvPicPr preferRelativeResize="0"/>
          <p:nvPr/>
        </p:nvPicPr>
        <p:blipFill rotWithShape="1">
          <a:blip r:embed="rId3">
            <a:alphaModFix/>
          </a:blip>
          <a:srcRect/>
          <a:stretch/>
        </p:blipFill>
        <p:spPr>
          <a:xfrm>
            <a:off x="0" y="3"/>
            <a:ext cx="762558" cy="762395"/>
          </a:xfrm>
          <a:prstGeom prst="rect">
            <a:avLst/>
          </a:prstGeom>
          <a:noFill/>
          <a:ln>
            <a:noFill/>
          </a:ln>
        </p:spPr>
      </p:pic>
      <p:pic>
        <p:nvPicPr>
          <p:cNvPr id="86" name="Google Shape;86;p17"/>
          <p:cNvPicPr preferRelativeResize="0"/>
          <p:nvPr/>
        </p:nvPicPr>
        <p:blipFill rotWithShape="1">
          <a:blip r:embed="rId4">
            <a:alphaModFix/>
          </a:blip>
          <a:srcRect/>
          <a:stretch/>
        </p:blipFill>
        <p:spPr>
          <a:xfrm>
            <a:off x="8319030" y="6"/>
            <a:ext cx="824970" cy="795591"/>
          </a:xfrm>
          <a:prstGeom prst="rect">
            <a:avLst/>
          </a:prstGeom>
          <a:noFill/>
          <a:ln>
            <a:noFill/>
          </a:ln>
        </p:spPr>
      </p:pic>
      <p:sp>
        <p:nvSpPr>
          <p:cNvPr id="87" name="Google Shape;87;p17"/>
          <p:cNvSpPr txBox="1"/>
          <p:nvPr/>
        </p:nvSpPr>
        <p:spPr>
          <a:xfrm>
            <a:off x="38100" y="120750"/>
            <a:ext cx="9067800" cy="553968"/>
          </a:xfrm>
          <a:prstGeom prst="rect">
            <a:avLst/>
          </a:prstGeom>
          <a:noFill/>
          <a:ln>
            <a:noFill/>
          </a:ln>
        </p:spPr>
        <p:txBody>
          <a:bodyPr spcFirstLastPara="1" wrap="square" lIns="91425" tIns="91425" rIns="91425" bIns="91425" anchor="t" anchorCtr="0">
            <a:spAutoFit/>
          </a:bodyPr>
          <a:lstStyle/>
          <a:p>
            <a:pPr algn="ctr">
              <a:buSzPts val="2400"/>
            </a:pPr>
            <a:r>
              <a:rPr lang="en" sz="2400" b="1" dirty="0">
                <a:solidFill>
                  <a:schemeClr val="tx1">
                    <a:lumMod val="85000"/>
                    <a:lumOff val="15000"/>
                  </a:schemeClr>
                </a:solidFill>
              </a:rPr>
              <a:t>MODULE DESCRIPTION</a:t>
            </a:r>
          </a:p>
        </p:txBody>
      </p:sp>
      <p:sp>
        <p:nvSpPr>
          <p:cNvPr id="2" name="TextBox 1"/>
          <p:cNvSpPr txBox="1"/>
          <p:nvPr/>
        </p:nvSpPr>
        <p:spPr>
          <a:xfrm>
            <a:off x="688369" y="1294544"/>
            <a:ext cx="8096035" cy="1923604"/>
          </a:xfrm>
          <a:prstGeom prst="rect">
            <a:avLst/>
          </a:prstGeom>
          <a:noFill/>
        </p:spPr>
        <p:txBody>
          <a:bodyPr wrap="square" rtlCol="0">
            <a:spAutoFit/>
          </a:bodyPr>
          <a:lstStyle/>
          <a:p>
            <a:pPr algn="just">
              <a:lnSpc>
                <a:spcPct val="150000"/>
              </a:lnSpc>
              <a:buFont typeface="+mj-lt"/>
              <a:buAutoNum type="arabicPeriod"/>
            </a:pPr>
            <a:r>
              <a:rPr lang="en-US" i="0" dirty="0">
                <a:solidFill>
                  <a:srgbClr val="0D0D0D"/>
                </a:solidFill>
                <a:effectLst/>
                <a:latin typeface="Times New Roman" panose="02020603050405020304" pitchFamily="18" charset="0"/>
                <a:cs typeface="Times New Roman" panose="02020603050405020304" pitchFamily="18" charset="0"/>
              </a:rPr>
              <a:t> User Management Module: Manages user registration, login, and profiles for job seekers and employers.</a:t>
            </a:r>
          </a:p>
          <a:p>
            <a:pPr algn="just">
              <a:lnSpc>
                <a:spcPct val="150000"/>
              </a:lnSpc>
              <a:buFont typeface="+mj-lt"/>
              <a:buAutoNum type="arabicPeriod"/>
            </a:pPr>
            <a:r>
              <a:rPr lang="en-US" i="0" dirty="0">
                <a:solidFill>
                  <a:srgbClr val="0D0D0D"/>
                </a:solidFill>
                <a:effectLst/>
                <a:latin typeface="Times New Roman" panose="02020603050405020304" pitchFamily="18" charset="0"/>
                <a:cs typeface="Times New Roman" panose="02020603050405020304" pitchFamily="18" charset="0"/>
              </a:rPr>
              <a:t> Job Management Module: Enables employers to post, update, and delete job listings.</a:t>
            </a:r>
          </a:p>
          <a:p>
            <a:pPr algn="just">
              <a:lnSpc>
                <a:spcPct val="150000"/>
              </a:lnSpc>
              <a:buFont typeface="+mj-lt"/>
              <a:buAutoNum type="arabicPeriod"/>
            </a:pPr>
            <a:r>
              <a:rPr lang="en-US" i="0" dirty="0">
                <a:solidFill>
                  <a:srgbClr val="0D0D0D"/>
                </a:solidFill>
                <a:effectLst/>
                <a:latin typeface="Times New Roman" panose="02020603050405020304" pitchFamily="18" charset="0"/>
                <a:cs typeface="Times New Roman" panose="02020603050405020304" pitchFamily="18" charset="0"/>
              </a:rPr>
              <a:t> Search Module: Provides job seekers with search and filter options for finding relevant jobs.</a:t>
            </a:r>
          </a:p>
          <a:p>
            <a:pPr algn="just">
              <a:lnSpc>
                <a:spcPct val="150000"/>
              </a:lnSpc>
              <a:buFont typeface="+mj-lt"/>
              <a:buAutoNum type="arabicPeriod"/>
            </a:pPr>
            <a:r>
              <a:rPr lang="en-US" i="0" dirty="0">
                <a:solidFill>
                  <a:srgbClr val="0D0D0D"/>
                </a:solidFill>
                <a:effectLst/>
                <a:latin typeface="Times New Roman" panose="02020603050405020304" pitchFamily="18" charset="0"/>
                <a:cs typeface="Times New Roman" panose="02020603050405020304" pitchFamily="18" charset="0"/>
              </a:rPr>
              <a:t> Application Module: Tracks job applications for seekers and manages candidate reviews for employers.</a:t>
            </a:r>
          </a:p>
          <a:p>
            <a:pPr algn="just">
              <a:lnSpc>
                <a:spcPct val="150000"/>
              </a:lnSpc>
              <a:buFont typeface="+mj-lt"/>
              <a:buAutoNum type="arabicPeriod"/>
            </a:pPr>
            <a:r>
              <a:rPr lang="en-US" i="0" dirty="0">
                <a:solidFill>
                  <a:srgbClr val="0D0D0D"/>
                </a:solidFill>
                <a:effectLst/>
                <a:latin typeface="Times New Roman" panose="02020603050405020304" pitchFamily="18" charset="0"/>
                <a:cs typeface="Times New Roman" panose="02020603050405020304" pitchFamily="18" charset="0"/>
              </a:rPr>
              <a:t> Notification Module: Sends updates and alerts about jobs and applications to users.</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MERITS</a:t>
            </a:r>
            <a:br>
              <a:rPr lang="en-US" b="1" dirty="0"/>
            </a:br>
            <a:endParaRPr lang="en-US" dirty="0"/>
          </a:p>
        </p:txBody>
      </p:sp>
      <p:sp>
        <p:nvSpPr>
          <p:cNvPr id="8" name="Text Placeholder 7"/>
          <p:cNvSpPr>
            <a:spLocks noGrp="1"/>
          </p:cNvSpPr>
          <p:nvPr>
            <p:ph type="body" idx="1"/>
          </p:nvPr>
        </p:nvSpPr>
        <p:spPr>
          <a:ln>
            <a:solidFill>
              <a:schemeClr val="bg1"/>
            </a:solidFill>
          </a:ln>
        </p:spPr>
        <p:txBody>
          <a:bodyPr/>
          <a:lstStyle/>
          <a:p>
            <a:pPr>
              <a:lnSpc>
                <a:spcPct val="150000"/>
              </a:lnSpc>
              <a:buFont typeface="Arial" panose="020B0604020202020204" pitchFamily="34" charset="0"/>
              <a:buChar char="•"/>
            </a:pPr>
            <a:r>
              <a:rPr lang="en-US" sz="1400" i="0" dirty="0">
                <a:solidFill>
                  <a:srgbClr val="0D0D0D"/>
                </a:solidFill>
                <a:effectLst/>
                <a:latin typeface="Times New Roman" panose="02020603050405020304" pitchFamily="18" charset="0"/>
                <a:cs typeface="Times New Roman" panose="02020603050405020304" pitchFamily="18" charset="0"/>
              </a:rPr>
              <a:t>Efficiency: Speeds up job search and recruitment processes for users.</a:t>
            </a:r>
          </a:p>
          <a:p>
            <a:pPr>
              <a:lnSpc>
                <a:spcPct val="150000"/>
              </a:lnSpc>
              <a:buFont typeface="Arial" panose="020B0604020202020204" pitchFamily="34" charset="0"/>
              <a:buChar char="•"/>
            </a:pPr>
            <a:r>
              <a:rPr lang="en-US" sz="1400" i="0" dirty="0">
                <a:solidFill>
                  <a:srgbClr val="0D0D0D"/>
                </a:solidFill>
                <a:effectLst/>
                <a:latin typeface="Times New Roman" panose="02020603050405020304" pitchFamily="18" charset="0"/>
                <a:cs typeface="Times New Roman" panose="02020603050405020304" pitchFamily="18" charset="0"/>
              </a:rPr>
              <a:t>User-Friendly: Offers an intuitive interface for easy navigation.</a:t>
            </a:r>
          </a:p>
          <a:p>
            <a:pPr>
              <a:lnSpc>
                <a:spcPct val="150000"/>
              </a:lnSpc>
              <a:buFont typeface="Arial" panose="020B0604020202020204" pitchFamily="34" charset="0"/>
              <a:buChar char="•"/>
            </a:pPr>
            <a:r>
              <a:rPr lang="en-US" sz="1400" i="0" dirty="0">
                <a:solidFill>
                  <a:srgbClr val="0D0D0D"/>
                </a:solidFill>
                <a:effectLst/>
                <a:latin typeface="Times New Roman" panose="02020603050405020304" pitchFamily="18" charset="0"/>
                <a:cs typeface="Times New Roman" panose="02020603050405020304" pitchFamily="18" charset="0"/>
              </a:rPr>
              <a:t>Automation: Reduces manual effort with features like matching algorithms and notifications.</a:t>
            </a:r>
          </a:p>
          <a:p>
            <a:pPr>
              <a:lnSpc>
                <a:spcPct val="150000"/>
              </a:lnSpc>
              <a:buFont typeface="Arial" panose="020B0604020202020204" pitchFamily="34" charset="0"/>
              <a:buChar char="•"/>
            </a:pPr>
            <a:r>
              <a:rPr lang="en-US" sz="1400" i="0" dirty="0">
                <a:solidFill>
                  <a:srgbClr val="0D0D0D"/>
                </a:solidFill>
                <a:effectLst/>
                <a:latin typeface="Times New Roman" panose="02020603050405020304" pitchFamily="18" charset="0"/>
                <a:cs typeface="Times New Roman" panose="02020603050405020304" pitchFamily="18" charset="0"/>
              </a:rPr>
              <a:t>Accessibility: Provides access on multiple devices with responsive design.</a:t>
            </a:r>
          </a:p>
          <a:p>
            <a:pPr>
              <a:lnSpc>
                <a:spcPct val="150000"/>
              </a:lnSpc>
              <a:buFont typeface="Arial" panose="020B0604020202020204" pitchFamily="34" charset="0"/>
              <a:buChar char="•"/>
            </a:pPr>
            <a:r>
              <a:rPr lang="en-US" sz="1400" i="0" dirty="0">
                <a:solidFill>
                  <a:srgbClr val="0D0D0D"/>
                </a:solidFill>
                <a:effectLst/>
                <a:latin typeface="Times New Roman" panose="02020603050405020304" pitchFamily="18" charset="0"/>
                <a:cs typeface="Times New Roman" panose="02020603050405020304" pitchFamily="18" charset="0"/>
              </a:rPr>
              <a:t>Scalability: Accommodates growing user and data volumes with cloud integration.</a:t>
            </a:r>
          </a:p>
          <a:p>
            <a:pPr>
              <a:lnSpc>
                <a:spcPct val="150000"/>
              </a:lnSpc>
              <a:buFont typeface="Arial" panose="020B0604020202020204" pitchFamily="34" charset="0"/>
              <a:buChar char="•"/>
            </a:pPr>
            <a:endParaRPr lang="en-IN" sz="1200" dirty="0">
              <a:solidFill>
                <a:schemeClr val="tx1">
                  <a:lumMod val="95000"/>
                  <a:lumOff val="5000"/>
                </a:schemeClr>
              </a:solidFill>
              <a:latin typeface="Times New Roman" pitchFamily="18" charset="0"/>
              <a:cs typeface="Times New Roman" pitchFamily="18" charset="0"/>
            </a:endParaRPr>
          </a:p>
        </p:txBody>
      </p:sp>
      <p:pic>
        <p:nvPicPr>
          <p:cNvPr id="4" name="Google Shape;85;p17"/>
          <p:cNvPicPr preferRelativeResize="0"/>
          <p:nvPr/>
        </p:nvPicPr>
        <p:blipFill rotWithShape="1">
          <a:blip r:embed="rId3">
            <a:alphaModFix/>
          </a:blip>
          <a:srcRect/>
          <a:stretch/>
        </p:blipFill>
        <p:spPr>
          <a:xfrm>
            <a:off x="0" y="3"/>
            <a:ext cx="762558" cy="762395"/>
          </a:xfrm>
          <a:prstGeom prst="rect">
            <a:avLst/>
          </a:prstGeom>
          <a:noFill/>
          <a:ln>
            <a:noFill/>
          </a:ln>
        </p:spPr>
      </p:pic>
      <p:pic>
        <p:nvPicPr>
          <p:cNvPr id="5" name="Google Shape;86;p17"/>
          <p:cNvPicPr preferRelativeResize="0"/>
          <p:nvPr/>
        </p:nvPicPr>
        <p:blipFill rotWithShape="1">
          <a:blip r:embed="rId4">
            <a:alphaModFix/>
          </a:blip>
          <a:srcRect/>
          <a:stretch/>
        </p:blipFill>
        <p:spPr>
          <a:xfrm>
            <a:off x="8319030" y="6"/>
            <a:ext cx="824970" cy="795591"/>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28775" y="444500"/>
            <a:ext cx="7515225" cy="573088"/>
          </a:xfrm>
        </p:spPr>
        <p:txBody>
          <a:bodyPr>
            <a:normAutofit fontScale="90000"/>
          </a:bodyPr>
          <a:lstStyle/>
          <a:p>
            <a:r>
              <a:rPr lang="en-US" dirty="0"/>
              <a:t>		</a:t>
            </a:r>
            <a:r>
              <a:rPr lang="en-US" b="1" dirty="0"/>
              <a:t>RESULT AND DISCUSSION</a:t>
            </a:r>
            <a:endParaRPr lang="en-IN" b="1" dirty="0"/>
          </a:p>
        </p:txBody>
      </p:sp>
      <p:pic>
        <p:nvPicPr>
          <p:cNvPr id="4" name="Google Shape;85;p17"/>
          <p:cNvPicPr preferRelativeResize="0"/>
          <p:nvPr/>
        </p:nvPicPr>
        <p:blipFill rotWithShape="1">
          <a:blip r:embed="rId2">
            <a:alphaModFix/>
          </a:blip>
          <a:srcRect/>
          <a:stretch/>
        </p:blipFill>
        <p:spPr>
          <a:xfrm>
            <a:off x="0" y="3"/>
            <a:ext cx="762558" cy="762395"/>
          </a:xfrm>
          <a:prstGeom prst="rect">
            <a:avLst/>
          </a:prstGeom>
          <a:noFill/>
          <a:ln>
            <a:noFill/>
          </a:ln>
        </p:spPr>
      </p:pic>
      <p:pic>
        <p:nvPicPr>
          <p:cNvPr id="5" name="Google Shape;86;p17"/>
          <p:cNvPicPr preferRelativeResize="0"/>
          <p:nvPr/>
        </p:nvPicPr>
        <p:blipFill rotWithShape="1">
          <a:blip r:embed="rId3">
            <a:alphaModFix/>
          </a:blip>
          <a:srcRect/>
          <a:stretch/>
        </p:blipFill>
        <p:spPr>
          <a:xfrm>
            <a:off x="8319030" y="6"/>
            <a:ext cx="824970" cy="795591"/>
          </a:xfrm>
          <a:prstGeom prst="rect">
            <a:avLst/>
          </a:prstGeom>
          <a:noFill/>
          <a:ln>
            <a:noFill/>
          </a:ln>
        </p:spPr>
      </p:pic>
      <p:pic>
        <p:nvPicPr>
          <p:cNvPr id="7" name="Picture 6">
            <a:extLst>
              <a:ext uri="{FF2B5EF4-FFF2-40B4-BE49-F238E27FC236}">
                <a16:creationId xmlns:a16="http://schemas.microsoft.com/office/drawing/2014/main" id="{88946574-DD1C-FB7E-0759-B74E62C9357E}"/>
              </a:ext>
            </a:extLst>
          </p:cNvPr>
          <p:cNvPicPr>
            <a:picLocks noChangeAspect="1"/>
          </p:cNvPicPr>
          <p:nvPr/>
        </p:nvPicPr>
        <p:blipFill>
          <a:blip r:embed="rId4"/>
          <a:stretch>
            <a:fillRect/>
          </a:stretch>
        </p:blipFill>
        <p:spPr>
          <a:xfrm>
            <a:off x="480432" y="1206892"/>
            <a:ext cx="3831373" cy="3244308"/>
          </a:xfrm>
          <a:prstGeom prst="rect">
            <a:avLst/>
          </a:prstGeom>
        </p:spPr>
      </p:pic>
      <p:pic>
        <p:nvPicPr>
          <p:cNvPr id="9" name="Picture 8">
            <a:extLst>
              <a:ext uri="{FF2B5EF4-FFF2-40B4-BE49-F238E27FC236}">
                <a16:creationId xmlns:a16="http://schemas.microsoft.com/office/drawing/2014/main" id="{5EF8BD71-A7F4-5355-9AA4-53AF478F6FF0}"/>
              </a:ext>
            </a:extLst>
          </p:cNvPr>
          <p:cNvPicPr>
            <a:picLocks noChangeAspect="1"/>
          </p:cNvPicPr>
          <p:nvPr/>
        </p:nvPicPr>
        <p:blipFill>
          <a:blip r:embed="rId5"/>
          <a:stretch>
            <a:fillRect/>
          </a:stretch>
        </p:blipFill>
        <p:spPr>
          <a:xfrm>
            <a:off x="4572000" y="1206892"/>
            <a:ext cx="4143607" cy="25176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85;p17">
            <a:extLst>
              <a:ext uri="{FF2B5EF4-FFF2-40B4-BE49-F238E27FC236}">
                <a16:creationId xmlns:a16="http://schemas.microsoft.com/office/drawing/2014/main" id="{BBA2C386-B89A-CABC-011C-0BB737C94F8A}"/>
              </a:ext>
            </a:extLst>
          </p:cNvPr>
          <p:cNvPicPr preferRelativeResize="0"/>
          <p:nvPr/>
        </p:nvPicPr>
        <p:blipFill rotWithShape="1">
          <a:blip r:embed="rId2">
            <a:alphaModFix/>
          </a:blip>
          <a:srcRect/>
          <a:stretch/>
        </p:blipFill>
        <p:spPr>
          <a:xfrm>
            <a:off x="0" y="3"/>
            <a:ext cx="762558" cy="762395"/>
          </a:xfrm>
          <a:prstGeom prst="rect">
            <a:avLst/>
          </a:prstGeom>
          <a:noFill/>
          <a:ln>
            <a:noFill/>
          </a:ln>
        </p:spPr>
      </p:pic>
      <p:pic>
        <p:nvPicPr>
          <p:cNvPr id="3" name="Google Shape;86;p17">
            <a:extLst>
              <a:ext uri="{FF2B5EF4-FFF2-40B4-BE49-F238E27FC236}">
                <a16:creationId xmlns:a16="http://schemas.microsoft.com/office/drawing/2014/main" id="{93B65123-2188-7EB5-9D1E-47C15547352B}"/>
              </a:ext>
            </a:extLst>
          </p:cNvPr>
          <p:cNvPicPr preferRelativeResize="0"/>
          <p:nvPr/>
        </p:nvPicPr>
        <p:blipFill rotWithShape="1">
          <a:blip r:embed="rId3">
            <a:alphaModFix/>
          </a:blip>
          <a:srcRect/>
          <a:stretch/>
        </p:blipFill>
        <p:spPr>
          <a:xfrm>
            <a:off x="8319030" y="6"/>
            <a:ext cx="824970" cy="795591"/>
          </a:xfrm>
          <a:prstGeom prst="rect">
            <a:avLst/>
          </a:prstGeom>
          <a:noFill/>
          <a:ln>
            <a:noFill/>
          </a:ln>
        </p:spPr>
      </p:pic>
      <p:pic>
        <p:nvPicPr>
          <p:cNvPr id="5" name="Picture 4">
            <a:extLst>
              <a:ext uri="{FF2B5EF4-FFF2-40B4-BE49-F238E27FC236}">
                <a16:creationId xmlns:a16="http://schemas.microsoft.com/office/drawing/2014/main" id="{40CE8595-3744-997F-7E18-7AA45983F63B}"/>
              </a:ext>
            </a:extLst>
          </p:cNvPr>
          <p:cNvPicPr>
            <a:picLocks noChangeAspect="1"/>
          </p:cNvPicPr>
          <p:nvPr/>
        </p:nvPicPr>
        <p:blipFill>
          <a:blip r:embed="rId4"/>
          <a:stretch>
            <a:fillRect/>
          </a:stretch>
        </p:blipFill>
        <p:spPr>
          <a:xfrm>
            <a:off x="550128" y="1085384"/>
            <a:ext cx="3776545" cy="2728333"/>
          </a:xfrm>
          <a:prstGeom prst="rect">
            <a:avLst/>
          </a:prstGeom>
        </p:spPr>
      </p:pic>
      <p:pic>
        <p:nvPicPr>
          <p:cNvPr id="7" name="Picture 6">
            <a:extLst>
              <a:ext uri="{FF2B5EF4-FFF2-40B4-BE49-F238E27FC236}">
                <a16:creationId xmlns:a16="http://schemas.microsoft.com/office/drawing/2014/main" id="{39F26D7D-84D0-C1C0-0691-2D0B47C697FD}"/>
              </a:ext>
            </a:extLst>
          </p:cNvPr>
          <p:cNvPicPr>
            <a:picLocks noChangeAspect="1"/>
          </p:cNvPicPr>
          <p:nvPr/>
        </p:nvPicPr>
        <p:blipFill>
          <a:blip r:embed="rId5"/>
          <a:stretch>
            <a:fillRect/>
          </a:stretch>
        </p:blipFill>
        <p:spPr>
          <a:xfrm>
            <a:off x="4572000" y="1085384"/>
            <a:ext cx="4081346" cy="2728333"/>
          </a:xfrm>
          <a:prstGeom prst="rect">
            <a:avLst/>
          </a:prstGeom>
        </p:spPr>
      </p:pic>
    </p:spTree>
    <p:extLst>
      <p:ext uri="{BB962C8B-B14F-4D97-AF65-F5344CB8AC3E}">
        <p14:creationId xmlns:p14="http://schemas.microsoft.com/office/powerpoint/2010/main" val="2356595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buNone/>
            </a:pPr>
            <a:endParaRPr lang="en-US" dirty="0"/>
          </a:p>
          <a:p>
            <a:pPr>
              <a:buNone/>
            </a:pPr>
            <a:endParaRPr lang="en-US" dirty="0"/>
          </a:p>
          <a:p>
            <a:pPr>
              <a:buNone/>
            </a:pPr>
            <a:endParaRPr lang="en-US" dirty="0"/>
          </a:p>
          <a:p>
            <a:pPr>
              <a:buNone/>
            </a:pPr>
            <a:endParaRPr lang="en-US" dirty="0"/>
          </a:p>
          <a:p>
            <a:pPr>
              <a:buNone/>
            </a:pPr>
            <a:r>
              <a:rPr lang="en-US" dirty="0"/>
              <a:t>				   </a:t>
            </a:r>
            <a:r>
              <a:rPr lang="en-US" sz="2400" b="1" dirty="0">
                <a:solidFill>
                  <a:schemeClr val="tx1">
                    <a:lumMod val="95000"/>
                    <a:lumOff val="5000"/>
                  </a:schemeClr>
                </a:solidFill>
              </a:rPr>
              <a:t>ANY QUERIES ?</a:t>
            </a:r>
            <a:endParaRPr lang="en-IN" sz="2400" b="1" dirty="0">
              <a:solidFill>
                <a:schemeClr val="tx1">
                  <a:lumMod val="95000"/>
                  <a:lumOff val="5000"/>
                </a:schemeClr>
              </a:solidFill>
            </a:endParaRP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p:nvPr/>
        </p:nvSpPr>
        <p:spPr>
          <a:xfrm>
            <a:off x="38100" y="1835250"/>
            <a:ext cx="9067800" cy="861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400" b="1">
                <a:solidFill>
                  <a:schemeClr val="dk1"/>
                </a:solidFill>
              </a:rPr>
              <a:t>THANK YOU</a:t>
            </a:r>
            <a:endParaRPr sz="2400" b="1">
              <a:solidFill>
                <a:srgbClr val="FF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173</TotalTime>
  <Words>611</Words>
  <Application>Microsoft Office PowerPoint</Application>
  <PresentationFormat>On-screen Show (16:9)</PresentationFormat>
  <Paragraphs>61</Paragraphs>
  <Slides>13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Narrow</vt:lpstr>
      <vt:lpstr>Calibri</vt:lpstr>
      <vt:lpstr>Times New Roman</vt:lpstr>
      <vt:lpstr>ui-sans-serif</vt:lpstr>
      <vt:lpstr>Simple Light</vt:lpstr>
      <vt:lpstr>PowerPoint Presentation</vt:lpstr>
      <vt:lpstr>PowerPoint Presentation</vt:lpstr>
      <vt:lpstr>OBJECTIVE</vt:lpstr>
      <vt:lpstr>PowerPoint Presentation</vt:lpstr>
      <vt:lpstr>   PROBLEM STATEMENT</vt:lpstr>
      <vt:lpstr>Methodologies (Programming concepts relevant to problem statement) </vt:lpstr>
      <vt:lpstr>PowerPoint Presentation</vt:lpstr>
      <vt:lpstr>PowerPoint Presentation</vt:lpstr>
      <vt:lpstr>MERITS </vt:lpstr>
      <vt:lpstr>  RESULT AND DISCUSSION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VIJESH S S</dc:creator>
  <cp:lastModifiedBy>SRI VARSHINI</cp:lastModifiedBy>
  <cp:revision>24</cp:revision>
  <dcterms:modified xsi:type="dcterms:W3CDTF">2024-12-03T13:53:44Z</dcterms:modified>
</cp:coreProperties>
</file>